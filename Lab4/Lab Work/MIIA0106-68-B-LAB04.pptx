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75" r:id="rId3"/>
    <p:sldId id="278" r:id="rId4"/>
    <p:sldId id="279" r:id="rId5"/>
    <p:sldId id="280" r:id="rId6"/>
    <p:sldId id="281" r:id="rId7"/>
    <p:sldId id="284" r:id="rId8"/>
    <p:sldId id="282" r:id="rId9"/>
    <p:sldId id="283" r:id="rId10"/>
    <p:sldId id="276" r:id="rId11"/>
    <p:sldId id="277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Sarabun" panose="020B0604020202020204" charset="0"/>
      <p:regular r:id="rId27"/>
      <p:bold r:id="rId28"/>
      <p:italic r:id="rId29"/>
      <p:boldItalic r:id="rId30"/>
    </p:embeddedFont>
    <p:embeddedFont>
      <p:font typeface="Sarabun Light" panose="020B0604020202020204" charset="0"/>
      <p:regular r:id="rId31"/>
      <p:bold r:id="rId32"/>
      <p:italic r:id="rId33"/>
      <p:boldItalic r:id="rId34"/>
    </p:embeddedFont>
    <p:embeddedFont>
      <p:font typeface="Sarabun SemiBold" panose="020B0604020202020204" charset="-34"/>
      <p:regular r:id="rId35"/>
      <p:bold r:id="rId36"/>
      <p:italic r:id="rId37"/>
      <p:boldItalic r:id="rId38"/>
    </p:embeddedFont>
    <p:embeddedFont>
      <p:font typeface="TH Sarabun New" panose="020B0500040200020003" pitchFamily="34" charset="-34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27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601200" y="64960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Sarabun Light"/>
                <a:ea typeface="Sarabun Light"/>
                <a:cs typeface="Sarabun Light"/>
                <a:sym typeface="Sarabun Light"/>
              </a:rPr>
              <a:t>Department of Engineering | MIIA0106</a:t>
            </a:r>
            <a:endParaRPr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03495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950481" y="2254150"/>
            <a:ext cx="829103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666666"/>
                </a:solidFill>
                <a:latin typeface="Sarabun"/>
                <a:ea typeface="Sarabun"/>
                <a:cs typeface="Sarabun"/>
                <a:sym typeface="Sarabun"/>
              </a:rPr>
              <a:t>MIIA0106#4 PYTHON AND C PROGRAMMING LANGUAGE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890599" y="3097262"/>
            <a:ext cx="6410801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0056B3"/>
                </a:solidFill>
                <a:latin typeface="Sarabun"/>
                <a:ea typeface="Sarabun"/>
                <a:cs typeface="Sarabun"/>
                <a:sym typeface="Sarabun"/>
              </a:rPr>
              <a:t>โครงสร้างการวนลูป</a:t>
            </a:r>
            <a:r>
              <a:rPr lang="en-US" sz="4200" b="1" i="0" u="none" strike="noStrike" cap="none" dirty="0">
                <a:solidFill>
                  <a:srgbClr val="0056B3"/>
                </a:solidFill>
                <a:latin typeface="Sarabun"/>
                <a:ea typeface="Sarabun"/>
                <a:cs typeface="Sarabun"/>
                <a:sym typeface="Sarabun"/>
              </a:rPr>
              <a:t> (Loop)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0056B3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4200" b="1" i="0" u="none" strike="noStrike" cap="none" dirty="0" err="1">
                <a:solidFill>
                  <a:srgbClr val="0056B3"/>
                </a:solidFill>
                <a:latin typeface="Sarabun"/>
                <a:ea typeface="Sarabun"/>
                <a:cs typeface="Sarabun"/>
                <a:sym typeface="Sarabun"/>
              </a:rPr>
              <a:t>ในภาษา</a:t>
            </a:r>
            <a:r>
              <a:rPr lang="en-US" sz="4200" b="1" i="0" u="none" strike="noStrike" cap="none" dirty="0">
                <a:solidFill>
                  <a:srgbClr val="0056B3"/>
                </a:solidFill>
                <a:latin typeface="Sarabun"/>
                <a:ea typeface="Sarabun"/>
                <a:cs typeface="Sarabun"/>
                <a:sym typeface="Sarabun"/>
              </a:rPr>
              <a:t> C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5619750" y="4758183"/>
            <a:ext cx="9525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933950" y="5253483"/>
            <a:ext cx="23241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3333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ผู้สอน: Sutit Ongart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964632"/>
            <a:ext cx="11430000" cy="222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1836836"/>
            <a:ext cx="3682900" cy="184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54400" y="1836836"/>
            <a:ext cx="3683049" cy="184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7950" y="1836836"/>
            <a:ext cx="3682900" cy="18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2"/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6B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สรุปและแบบฝึกหัด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381000" y="1332160"/>
            <a:ext cx="11430000" cy="28575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H Sarabun New" panose="020B0500040200020003" pitchFamily="34" charset="-34"/>
              <a:ea typeface="Calibri"/>
              <a:cs typeface="TH Sarabun New" panose="020B0500040200020003" pitchFamily="34" charset="-34"/>
              <a:sym typeface="Calibri"/>
            </a:endParaRPr>
          </a:p>
        </p:txBody>
      </p:sp>
      <p:sp>
        <p:nvSpPr>
          <p:cNvPr id="410" name="Google Shape;410;p32"/>
          <p:cNvSpPr txBox="1"/>
          <p:nvPr/>
        </p:nvSpPr>
        <p:spPr>
          <a:xfrm>
            <a:off x="10429875" y="6496050"/>
            <a:ext cx="13811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TH Sarabun New" panose="020B0500040200020003" pitchFamily="34" charset="-34"/>
                <a:ea typeface="Sarabun Light"/>
                <a:cs typeface="TH Sarabun New" panose="020B0500040200020003" pitchFamily="34" charset="-34"/>
                <a:sym typeface="Sarabun Light"/>
              </a:rPr>
              <a:t>Summary &amp; Assignment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571500" y="4374207"/>
            <a:ext cx="11620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งานมอบหมาย (Assignment)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2" name="Google Shape;412;p32"/>
          <p:cNvSpPr txBox="1"/>
          <p:nvPr/>
        </p:nvSpPr>
        <p:spPr>
          <a:xfrm>
            <a:off x="571500" y="4945707"/>
            <a:ext cx="11096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1. ให้นักศึกษาเขียนโปรแกรมตัดเกรด โดยรับคะแนนซ้ำๆ จนกว่าจะใส่ -1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3" name="Google Shape;413;p32"/>
          <p:cNvSpPr txBox="1"/>
          <p:nvPr/>
        </p:nvSpPr>
        <p:spPr>
          <a:xfrm>
            <a:off x="571500" y="5539978"/>
            <a:ext cx="11096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2.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วาด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 Flowchart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และเขียนโค้ดภาษา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 C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ส่งในคาบถัดไป</a:t>
            </a:r>
            <a:endParaRPr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4" name="Google Shape;414;p32"/>
          <p:cNvSpPr txBox="1"/>
          <p:nvPr/>
        </p:nvSpPr>
        <p:spPr>
          <a:xfrm>
            <a:off x="548959" y="2351186"/>
            <a:ext cx="33469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6B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For Loop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628650" y="2922686"/>
            <a:ext cx="3187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รู้จำนวนรอบแน่นอน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6" name="Google Shape;416;p32"/>
          <p:cNvSpPr txBox="1"/>
          <p:nvPr/>
        </p:nvSpPr>
        <p:spPr>
          <a:xfrm>
            <a:off x="4422357" y="2351186"/>
            <a:ext cx="334713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6B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While Loop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4502050" y="2922686"/>
            <a:ext cx="318774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ทำเมื่อเงื่อนไขจริง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8" name="Google Shape;418;p32"/>
          <p:cNvSpPr txBox="1"/>
          <p:nvPr/>
        </p:nvSpPr>
        <p:spPr>
          <a:xfrm>
            <a:off x="8295910" y="2351186"/>
            <a:ext cx="33469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6B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Do-While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9" name="Google Shape;419;p32"/>
          <p:cNvSpPr txBox="1"/>
          <p:nvPr/>
        </p:nvSpPr>
        <p:spPr>
          <a:xfrm>
            <a:off x="8375600" y="2922686"/>
            <a:ext cx="3187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H Sarabun New" panose="020B0500040200020003" pitchFamily="34" charset="-34"/>
                <a:ea typeface="Sarabun"/>
                <a:cs typeface="TH Sarabun New" panose="020B0500040200020003" pitchFamily="34" charset="-34"/>
                <a:sym typeface="Sarabun"/>
              </a:rPr>
              <a:t>ทำก่อน 1 ครั้งเสมอ</a:t>
            </a:r>
            <a:endParaRPr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20" name="Google Shape;420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431357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สรุปคำสั่งพื้นฐาน (โครงสร้างโปรแกรม C++)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8320" y="109728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หมวด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คำสั่ง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ใช้ทำอะไร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#include &lt;iostream&gt;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รับ–แสดงผล (cin, cout)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#include &lt;string&gt;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ใช้งาน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Namespace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using namespace std;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ไม่ต้องเขียน std::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 main()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จุดเริ่มต้นโปรแกรม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 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จบโปรแกรม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ชนิดข้อมูล (Data Types)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8320" y="109728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t>ชนิดข้อมูล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ความหมาย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 score;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จำนวนเต็ม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 grade;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ตัวอักษร 1 ตัว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string name;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ข้อความ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คำสั่งรับข้อมูล (Input)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8320" y="109728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t>คำสั่ง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รูปแบบ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หมายเหตุ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cin &gt;&gt; score;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รับค่าทั่วไป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getline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getline(cin, name);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รับทั้งบรรทัด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cin.ignore()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cin.ignore();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ล้าง \n ใน 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คำสั่งแสดงผล (Output)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8320" y="109728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t>คำสั่ง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รูปแบบ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ใช้ทำอะไร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cout &lt;&lt; "Hello";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แสดงผล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&lt;&lt;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cout &lt;&lt; a &lt;&lt; b;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แสดงหลายค่า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endl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cout &lt;&lt; endl;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ขึ้นบรรทัดใหม่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262187"/>
            <a:ext cx="5419725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62187"/>
            <a:ext cx="5419725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485775" y="485775"/>
            <a:ext cx="11706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 err="1">
                <a:solidFill>
                  <a:srgbClr val="58A6FF"/>
                </a:solidFill>
                <a:latin typeface="TH Sarabun New" panose="020B0500040200020003" pitchFamily="34" charset="-34"/>
                <a:ea typeface="Prompt SemiBold"/>
                <a:cs typeface="TH Sarabun New" panose="020B0500040200020003" pitchFamily="34" charset="-34"/>
                <a:sym typeface="Prompt SemiBold"/>
              </a:rPr>
              <a:t>การรับและแสดงผลข้อมูล</a:t>
            </a:r>
            <a:r>
              <a:rPr lang="en-US" sz="4800" b="0" i="0" u="none" strike="noStrike" cap="none" dirty="0">
                <a:solidFill>
                  <a:srgbClr val="58A6FF"/>
                </a:solidFill>
                <a:latin typeface="TH Sarabun New" panose="020B0500040200020003" pitchFamily="34" charset="-34"/>
                <a:ea typeface="Prompt SemiBold"/>
                <a:cs typeface="TH Sarabun New" panose="020B0500040200020003" pitchFamily="34" charset="-34"/>
                <a:sym typeface="Prompt SemiBold"/>
              </a:rPr>
              <a:t> (Input / Output)</a:t>
            </a:r>
            <a:endParaRPr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19150" y="2547937"/>
            <a:ext cx="50406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9C0FF"/>
                </a:solidFill>
                <a:latin typeface="TH Sarabun New" panose="020B0500040200020003" pitchFamily="34" charset="-34"/>
                <a:ea typeface="Prompt SemiBold"/>
                <a:cs typeface="TH Sarabun New" panose="020B0500040200020003" pitchFamily="34" charset="-34"/>
                <a:sym typeface="Prompt SemiBold"/>
              </a:rPr>
              <a:t>Input (การรับค่า)</a:t>
            </a:r>
            <a:endParaRPr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619875" y="2547937"/>
            <a:ext cx="50406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9C0FF"/>
                </a:solidFill>
                <a:latin typeface="TH Sarabun New" panose="020B0500040200020003" pitchFamily="34" charset="-34"/>
                <a:ea typeface="Prompt SemiBold"/>
                <a:cs typeface="TH Sarabun New" panose="020B0500040200020003" pitchFamily="34" charset="-34"/>
                <a:sym typeface="Prompt SemiBold"/>
              </a:rPr>
              <a:t>Output (การแสดงผล)</a:t>
            </a:r>
            <a:endParaRPr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6146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19150" y="3109912"/>
            <a:ext cx="48006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cin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&gt;&gt; variable;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H Sarabun New" panose="020B0500040200020003" pitchFamily="34" charset="-34"/>
                <a:ea typeface="Calibri"/>
                <a:cs typeface="TH Sarabun New" panose="020B0500040200020003" pitchFamily="34" charset="-34"/>
                <a:sym typeface="Calibri"/>
              </a:rPr>
            </a:b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รับค่าทั่วไป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(General input)</a:t>
            </a:r>
            <a:endParaRPr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819150" y="3862387"/>
            <a:ext cx="48006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getline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(</a:t>
            </a: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cin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, name);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H Sarabun New" panose="020B0500040200020003" pitchFamily="34" charset="-34"/>
                <a:ea typeface="Calibri"/>
                <a:cs typeface="TH Sarabun New" panose="020B0500040200020003" pitchFamily="34" charset="-34"/>
                <a:sym typeface="Calibri"/>
              </a:rPr>
            </a:b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รับข้อความทั้งบรรทัด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(Full line string)</a:t>
            </a:r>
            <a:endParaRPr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19150" y="4614862"/>
            <a:ext cx="48006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cin.ignore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();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H Sarabun New" panose="020B0500040200020003" pitchFamily="34" charset="-34"/>
                <a:ea typeface="Calibri"/>
                <a:cs typeface="TH Sarabun New" panose="020B0500040200020003" pitchFamily="34" charset="-34"/>
                <a:sym typeface="Calibri"/>
              </a:rPr>
            </a:b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ล้างค่า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\n </a:t>
            </a: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ใน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buffer (Clear buffer)</a:t>
            </a:r>
            <a:endParaRPr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26146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6619875" y="3109912"/>
            <a:ext cx="48006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cout &lt;&lt; "Text";</a:t>
            </a:r>
            <a:br>
              <a:rPr lang="en-US" sz="2800" b="0" i="0" u="none" strike="noStrike" cap="none">
                <a:solidFill>
                  <a:schemeClr val="dk1"/>
                </a:solidFill>
                <a:latin typeface="TH Sarabun New" panose="020B0500040200020003" pitchFamily="34" charset="-34"/>
                <a:ea typeface="Calibri"/>
                <a:cs typeface="TH Sarabun New" panose="020B0500040200020003" pitchFamily="34" charset="-34"/>
                <a:sym typeface="Calibri"/>
              </a:rPr>
            </a:br>
            <a:r>
              <a:rPr lang="en-US" sz="2000" b="0" i="0" u="none" strike="noStrike" cap="none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แสดงข้อความ (Print text)</a:t>
            </a:r>
            <a:endParaRPr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619875" y="3862387"/>
            <a:ext cx="48006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cout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&lt;&lt; a &lt;&lt; b;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H Sarabun New" panose="020B0500040200020003" pitchFamily="34" charset="-34"/>
                <a:ea typeface="Calibri"/>
                <a:cs typeface="TH Sarabun New" panose="020B0500040200020003" pitchFamily="34" charset="-34"/>
                <a:sym typeface="Calibri"/>
              </a:rPr>
            </a:br>
            <a:r>
              <a:rPr lang="en-US" sz="2000" b="0" i="0" u="none" strike="noStrike" cap="none" dirty="0" err="1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แสดงหลายค่าต่อกัน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(Chain output)</a:t>
            </a:r>
            <a:endParaRPr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619875" y="4614862"/>
            <a:ext cx="48006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cout &lt;&lt; endl;</a:t>
            </a:r>
            <a:br>
              <a:rPr lang="en-US" sz="2800" b="0" i="0" u="none" strike="noStrike" cap="none">
                <a:solidFill>
                  <a:schemeClr val="dk1"/>
                </a:solidFill>
                <a:latin typeface="TH Sarabun New" panose="020B0500040200020003" pitchFamily="34" charset="-34"/>
                <a:ea typeface="Calibri"/>
                <a:cs typeface="TH Sarabun New" panose="020B0500040200020003" pitchFamily="34" charset="-34"/>
                <a:sym typeface="Calibri"/>
              </a:rPr>
            </a:br>
            <a:r>
              <a:rPr lang="en-US" sz="2000" b="0" i="0" u="none" strike="noStrike" cap="none">
                <a:solidFill>
                  <a:srgbClr val="8B949E"/>
                </a:solidFill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ขึ้นบรรทัดใหม่ (New line)</a:t>
            </a:r>
            <a:endParaRPr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โครงสร้างเงื่อนไข (if - else)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8320" y="109728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t>คำสั่ง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ความหมาย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if(score &gt;= 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ตรวจสอบเงื่อนไข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else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else if(score &gt;= 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เงื่อนไขต่อเนื่อง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กรณีอื่น 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ตัวดำเนินการ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8320" y="109728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t>ประเภท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สัญลักษณ์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ตัวอย่าง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&lt; &gt;= 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 &gt;= 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 ==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score&gt;=0 &amp;&amp; score&lt;=100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score&lt;0 || score&gt;100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896CBA-E009-4788-AD86-22D8DB3A6374}"/>
              </a:ext>
            </a:extLst>
          </p:cNvPr>
          <p:cNvSpPr/>
          <p:nvPr/>
        </p:nvSpPr>
        <p:spPr>
          <a:xfrm>
            <a:off x="3048000" y="-2714220"/>
            <a:ext cx="6096000" cy="1228644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#include &lt;iostream&gt;</a:t>
            </a:r>
          </a:p>
          <a:p>
            <a:r>
              <a:rPr lang="en-US"/>
              <a:t>#include &lt;string&gt;</a:t>
            </a:r>
          </a:p>
          <a:p>
            <a:r>
              <a:rPr lang="en-US"/>
              <a:t>using namespace std;</a:t>
            </a:r>
          </a:p>
          <a:p>
            <a:endParaRPr lang="en-US"/>
          </a:p>
          <a:p>
            <a:r>
              <a:rPr lang="en-US"/>
              <a:t>int main() {</a:t>
            </a:r>
          </a:p>
          <a:p>
            <a:r>
              <a:rPr lang="en-US"/>
              <a:t>    string studentID;</a:t>
            </a:r>
          </a:p>
          <a:p>
            <a:r>
              <a:rPr lang="en-US"/>
              <a:t>    string studentName;</a:t>
            </a:r>
          </a:p>
          <a:p>
            <a:r>
              <a:rPr lang="en-US"/>
              <a:t>    int score;</a:t>
            </a:r>
          </a:p>
          <a:p>
            <a:endParaRPr lang="en-US"/>
          </a:p>
          <a:p>
            <a:r>
              <a:rPr lang="en-US"/>
              <a:t>    cout &lt;&lt; "Enter student ID: ";</a:t>
            </a:r>
          </a:p>
          <a:p>
            <a:r>
              <a:rPr lang="en-US"/>
              <a:t>    cin &gt;&gt; studentID;</a:t>
            </a:r>
          </a:p>
          <a:p>
            <a:endParaRPr lang="en-US"/>
          </a:p>
          <a:p>
            <a:r>
              <a:rPr lang="en-US"/>
              <a:t>    cin.ignore(); // </a:t>
            </a:r>
            <a:r>
              <a:rPr lang="th-TH"/>
              <a:t>ลบ </a:t>
            </a:r>
            <a:r>
              <a:rPr lang="en-US"/>
              <a:t>newline </a:t>
            </a:r>
            <a:r>
              <a:rPr lang="th-TH"/>
              <a:t>จาก </a:t>
            </a:r>
            <a:r>
              <a:rPr lang="en-US"/>
              <a:t>buffer </a:t>
            </a:r>
            <a:r>
              <a:rPr lang="th-TH"/>
              <a:t>ก่อนรับชื่อแบบเต็มบรรทัด</a:t>
            </a:r>
          </a:p>
          <a:p>
            <a:endParaRPr lang="th-TH"/>
          </a:p>
          <a:p>
            <a:r>
              <a:rPr lang="th-TH"/>
              <a:t>    </a:t>
            </a:r>
            <a:r>
              <a:rPr lang="en-US"/>
              <a:t>cout &lt;&lt; "Enter student name: ";</a:t>
            </a:r>
          </a:p>
          <a:p>
            <a:r>
              <a:rPr lang="en-US"/>
              <a:t>    getline(cin, studentName);</a:t>
            </a:r>
          </a:p>
          <a:p>
            <a:endParaRPr lang="en-US"/>
          </a:p>
          <a:p>
            <a:r>
              <a:rPr lang="en-US"/>
              <a:t>    cout &lt;&lt; "Enter score: ";</a:t>
            </a:r>
          </a:p>
          <a:p>
            <a:r>
              <a:rPr lang="en-US"/>
              <a:t>    cin &gt;&gt; score;</a:t>
            </a:r>
          </a:p>
          <a:p>
            <a:endParaRPr lang="en-US"/>
          </a:p>
          <a:p>
            <a:r>
              <a:rPr lang="en-US"/>
              <a:t>    // </a:t>
            </a:r>
            <a:r>
              <a:rPr lang="th-TH"/>
              <a:t>ตรวจสอบว่าคะแนนถูกต้องหรือไม่</a:t>
            </a:r>
          </a:p>
          <a:p>
            <a:r>
              <a:rPr lang="th-TH"/>
              <a:t>    </a:t>
            </a:r>
            <a:r>
              <a:rPr lang="en-US"/>
              <a:t>if (score &lt; 0 || score &gt; 100) {</a:t>
            </a:r>
          </a:p>
          <a:p>
            <a:r>
              <a:rPr lang="en-US"/>
              <a:t>        cout &lt;&lt; "\nError: Score must be between 0 and 100." &lt;&lt; endl;</a:t>
            </a:r>
          </a:p>
          <a:p>
            <a:r>
              <a:rPr lang="en-US"/>
              <a:t>        return 0;</a:t>
            </a:r>
          </a:p>
          <a:p>
            <a:r>
              <a:rPr lang="en-US"/>
              <a:t>    }</a:t>
            </a:r>
          </a:p>
          <a:p>
            <a:endParaRPr lang="en-US"/>
          </a:p>
          <a:p>
            <a:r>
              <a:rPr lang="en-US"/>
              <a:t>    // </a:t>
            </a:r>
            <a:r>
              <a:rPr lang="th-TH"/>
              <a:t>ตัดเกรด</a:t>
            </a:r>
          </a:p>
          <a:p>
            <a:r>
              <a:rPr lang="th-TH"/>
              <a:t>    </a:t>
            </a:r>
            <a:r>
              <a:rPr lang="en-US"/>
              <a:t>char grade;</a:t>
            </a:r>
          </a:p>
          <a:p>
            <a:endParaRPr lang="en-US"/>
          </a:p>
          <a:p>
            <a:r>
              <a:rPr lang="en-US"/>
              <a:t>    if (score &gt;= 90) {</a:t>
            </a:r>
          </a:p>
          <a:p>
            <a:r>
              <a:rPr lang="en-US"/>
              <a:t>        grade = 'A';</a:t>
            </a:r>
          </a:p>
          <a:p>
            <a:r>
              <a:rPr lang="en-US"/>
              <a:t>    }</a:t>
            </a:r>
          </a:p>
          <a:p>
            <a:r>
              <a:rPr lang="en-US"/>
              <a:t>    else if (score &gt;= 80) {</a:t>
            </a:r>
          </a:p>
          <a:p>
            <a:r>
              <a:rPr lang="en-US"/>
              <a:t>        grade = 'B';</a:t>
            </a:r>
          </a:p>
          <a:p>
            <a:r>
              <a:rPr lang="en-US"/>
              <a:t>    }</a:t>
            </a:r>
          </a:p>
          <a:p>
            <a:r>
              <a:rPr lang="en-US"/>
              <a:t>    else if (score &gt;= 70) {</a:t>
            </a:r>
          </a:p>
          <a:p>
            <a:r>
              <a:rPr lang="en-US"/>
              <a:t>        grade = 'C';</a:t>
            </a:r>
          </a:p>
          <a:p>
            <a:r>
              <a:rPr lang="en-US"/>
              <a:t>    }</a:t>
            </a:r>
          </a:p>
          <a:p>
            <a:r>
              <a:rPr lang="en-US"/>
              <a:t>    else if (score &gt;= 60) {</a:t>
            </a:r>
          </a:p>
          <a:p>
            <a:r>
              <a:rPr lang="en-US"/>
              <a:t>        grade = 'D';</a:t>
            </a:r>
          </a:p>
          <a:p>
            <a:r>
              <a:rPr lang="en-US"/>
              <a:t>    }</a:t>
            </a:r>
          </a:p>
          <a:p>
            <a:r>
              <a:rPr lang="en-US"/>
              <a:t>    else {</a:t>
            </a:r>
          </a:p>
          <a:p>
            <a:r>
              <a:rPr lang="en-US"/>
              <a:t>        grade = 'F';</a:t>
            </a:r>
          </a:p>
          <a:p>
            <a:r>
              <a:rPr lang="en-US"/>
              <a:t>    }</a:t>
            </a:r>
          </a:p>
          <a:p>
            <a:endParaRPr lang="en-US"/>
          </a:p>
          <a:p>
            <a:r>
              <a:rPr lang="en-US"/>
              <a:t>    // </a:t>
            </a:r>
            <a:r>
              <a:rPr lang="th-TH"/>
              <a:t>แสดงผลลัพธ์แบบรายงาน</a:t>
            </a:r>
          </a:p>
          <a:p>
            <a:r>
              <a:rPr lang="th-TH"/>
              <a:t>    </a:t>
            </a:r>
            <a:r>
              <a:rPr lang="en-US"/>
              <a:t>cout &lt;&lt; "\n------ Student Report ------" &lt;&lt; endl;</a:t>
            </a:r>
          </a:p>
          <a:p>
            <a:r>
              <a:rPr lang="en-US"/>
              <a:t>    cout &lt;&lt; "Student ID   : " &lt;&lt; studentID &lt;&lt; endl;</a:t>
            </a:r>
          </a:p>
          <a:p>
            <a:r>
              <a:rPr lang="en-US"/>
              <a:t>    cout &lt;&lt; "Name         : " &lt;&lt; studentName &lt;&lt; endl;</a:t>
            </a:r>
          </a:p>
          <a:p>
            <a:r>
              <a:rPr lang="en-US"/>
              <a:t>    cout &lt;&lt; "Score        : " &lt;&lt; score &lt;&lt; endl;</a:t>
            </a:r>
          </a:p>
          <a:p>
            <a:r>
              <a:rPr lang="en-US"/>
              <a:t>    cout &lt;&lt; "Grade        : " &lt;&lt; grade &lt;&lt; endl;</a:t>
            </a:r>
          </a:p>
          <a:p>
            <a:r>
              <a:rPr lang="en-US"/>
              <a:t>    cout &lt;&lt; "-----------------------------" &lt;&lt; endl;</a:t>
            </a:r>
          </a:p>
          <a:p>
            <a:endParaRPr lang="en-US"/>
          </a:p>
          <a:p>
            <a:r>
              <a:rPr lang="en-US"/>
              <a:t>    return 0;</a:t>
            </a:r>
          </a:p>
          <a:p>
            <a:r>
              <a:rPr lang="en-US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7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สรุปคำสั่งที่ใช้ในโปรแกรมตัดเกรด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หัวข้อ: Input / Output และ if-else</a:t>
            </a:r>
          </a:p>
          <a:p>
            <a:r>
              <a:t>ใช้สำหรับรายวิชา Programming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Include และ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</a:t>
            </a:r>
          </a:p>
          <a:p>
            <a:r>
              <a:t>#include &lt;string&gt;</a:t>
            </a:r>
          </a:p>
          <a:p>
            <a:endParaRPr/>
          </a:p>
          <a:p>
            <a:r>
              <a:t>using namespace std;</a:t>
            </a:r>
          </a:p>
          <a:p>
            <a:r>
              <a:t>ใช้สำหรับรับ–แสดงผล และใช้งาน string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main() และ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main() {</a:t>
            </a:r>
          </a:p>
          <a:p>
            <a:r>
              <a:t>  ...</a:t>
            </a:r>
          </a:p>
          <a:p>
            <a:r>
              <a:t>  return 0;</a:t>
            </a:r>
          </a:p>
          <a:p>
            <a:r>
              <a:t>}</a:t>
            </a:r>
          </a:p>
          <a:p>
            <a:endParaRPr/>
          </a:p>
          <a:p>
            <a:r>
              <a:t>main คือจุดเริ่มต้นของโปรแกรม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การประกาศตัวแปร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studentID;</a:t>
            </a:r>
          </a:p>
          <a:p>
            <a:r>
              <a:t>string studentName;</a:t>
            </a:r>
          </a:p>
          <a:p>
            <a:r>
              <a:t>int score;</a:t>
            </a:r>
          </a:p>
          <a:p>
            <a:r>
              <a:t>char grade;</a:t>
            </a:r>
          </a:p>
          <a:p>
            <a:endParaRPr/>
          </a:p>
          <a:p>
            <a:r>
              <a:t>ใช้เก็บข้อมูลนักศึกษา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การรับข้อมูล (Input)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cin &gt;&gt; studentID;</a:t>
            </a:r>
          </a:p>
          <a:p>
            <a:r>
              <a:t>cin &gt;&gt; score;</a:t>
            </a:r>
          </a:p>
          <a:p>
            <a:r>
              <a:t>getline(cin, studentName);</a:t>
            </a:r>
          </a:p>
          <a:p>
            <a:r>
              <a:t>cin.ignore();</a:t>
            </a:r>
          </a:p>
          <a:p>
            <a:endParaRPr/>
          </a:p>
          <a:p>
            <a:r>
              <a:t>ใช้รับข้อมูลจากคีย์บอร์ด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การแสดงผล (Output)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cout &lt;&lt; "Score: " &lt;&lt; score &lt;&lt; endl;</a:t>
            </a:r>
          </a:p>
          <a:p>
            <a:endParaRPr/>
          </a:p>
          <a:p>
            <a:r>
              <a:t>cout ใช้แสดงผล</a:t>
            </a:r>
          </a:p>
          <a:p>
            <a:r>
              <a:t>endl ใช้ขึ้นบรรทัดใหม่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เงื่อนไข if - else if -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(score &gt;= 90) grade = 'A';</a:t>
            </a:r>
          </a:p>
          <a:p>
            <a:r>
              <a:t>else if (score &gt;= 80) grade = 'B';</a:t>
            </a:r>
          </a:p>
          <a:p>
            <a:r>
              <a:t>else if (score &gt;= 70) grade = 'C';</a:t>
            </a:r>
          </a:p>
          <a:p>
            <a:r>
              <a:t>else grade = 'F';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ตัวดำเนินการเปรียบเทียบ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&gt;=  มากกว่าหรือเท่ากับ</a:t>
            </a:r>
          </a:p>
          <a:p>
            <a:r>
              <a:t>&lt;=  น้อยกว่าหรือเท่ากับ</a:t>
            </a:r>
          </a:p>
          <a:p>
            <a:r>
              <a:t>&gt;   มากกว่า</a:t>
            </a:r>
          </a:p>
          <a:p>
            <a:r>
              <a:t>&lt;   น้อยกว่า</a:t>
            </a:r>
          </a:p>
          <a:p>
            <a:r>
              <a:t>==  เท่ากับ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ตัวดำเนินการตรรกะ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||  OR (หรือ)</a:t>
            </a:r>
          </a:p>
          <a:p>
            <a:r>
              <a:t>&amp;&amp;  AND (และ)</a:t>
            </a:r>
          </a:p>
          <a:p>
            <a:endParaRPr/>
          </a:p>
          <a:p>
            <a:r>
              <a:t>ใช้ตรวจสอบหลายเงื่อนไข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สรุป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โปรแกรมนี้ใช้:</a:t>
            </a:r>
          </a:p>
          <a:p>
            <a:r>
              <a:t>- รับข้อมูล</a:t>
            </a:r>
          </a:p>
          <a:p>
            <a:r>
              <a:t>- แสดงผล</a:t>
            </a:r>
          </a:p>
          <a:p>
            <a:r>
              <a:t>- เงื่อนไข</a:t>
            </a:r>
          </a:p>
          <a:p>
            <a:r>
              <a:t>- ตัวแปร</a:t>
            </a:r>
          </a:p>
          <a:p>
            <a:r>
              <a:t>สามารถพัฒนาต่อได้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970</Words>
  <Application>Microsoft Office PowerPoint</Application>
  <PresentationFormat>Widescreen</PresentationFormat>
  <Paragraphs>224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Sarabun Light</vt:lpstr>
      <vt:lpstr>TH Sarabun New</vt:lpstr>
      <vt:lpstr>Sarabun</vt:lpstr>
      <vt:lpstr>Sarabun SemiBold</vt:lpstr>
      <vt:lpstr>Calibri</vt:lpstr>
      <vt:lpstr>Office Theme</vt:lpstr>
      <vt:lpstr>PowerPoint Presentation</vt:lpstr>
      <vt:lpstr>PowerPoint Presentation</vt:lpstr>
      <vt:lpstr>สรุปคำสั่งพื้นฐาน (โครงสร้างโปรแกรม C++)</vt:lpstr>
      <vt:lpstr>ชนิดข้อมูล (Data Types)</vt:lpstr>
      <vt:lpstr>คำสั่งรับข้อมูล (Input)</vt:lpstr>
      <vt:lpstr>คำสั่งแสดงผล (Output)</vt:lpstr>
      <vt:lpstr>PowerPoint Presentation</vt:lpstr>
      <vt:lpstr>โครงสร้างเงื่อนไข (if - else)</vt:lpstr>
      <vt:lpstr>ตัวดำเนินการ</vt:lpstr>
      <vt:lpstr>PowerPoint Presentation</vt:lpstr>
      <vt:lpstr>สรุปคำสั่งที่ใช้ในโปรแกรมตัดเกรด (C++)</vt:lpstr>
      <vt:lpstr>1. Include และ Namespace</vt:lpstr>
      <vt:lpstr>2. main() และ return</vt:lpstr>
      <vt:lpstr>3. การประกาศตัวแปร</vt:lpstr>
      <vt:lpstr>4. การรับข้อมูล (Input)</vt:lpstr>
      <vt:lpstr>5. การแสดงผล (Output)</vt:lpstr>
      <vt:lpstr>6. เงื่อนไข if - else if - else</vt:lpstr>
      <vt:lpstr>7. ตัวดำเนินการเปรียบเทียบ</vt:lpstr>
      <vt:lpstr>8. ตัวดำเนินการตรรกะ</vt:lpstr>
      <vt:lpstr>สรุป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sutit ongart</dc:creator>
  <cp:lastModifiedBy>sutit ongart</cp:lastModifiedBy>
  <cp:revision>5</cp:revision>
  <dcterms:modified xsi:type="dcterms:W3CDTF">2025-12-06T06:31:47Z</dcterms:modified>
</cp:coreProperties>
</file>